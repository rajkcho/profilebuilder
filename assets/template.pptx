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trat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0" name="Strat Title"/>
          <p:cNvSpPr>
            <a:spLocks noGrp="1"/>
          </p:cNvSpPr>
          <p:nvPr>
            <p:ph idx="30"/>
          </p:nvPr>
        </p:nvSpPr>
        <p:spPr>
          <a:xfrm>
            <a:off x="457200" y="274320"/>
            <a:ext cx="10972800" cy="640080"/>
          </a:xfrm>
        </p:spPr>
        <p:txBody>
          <a:bodyPr wrap="square"/>
          <a:lstStyle/>
          <a:p/>
        </p:txBody>
      </p:sp>
      <p:sp>
        <p:nvSpPr>
          <p:cNvPr id="231" name="Management"/>
          <p:cNvSpPr>
            <a:spLocks noGrp="1"/>
          </p:cNvSpPr>
          <p:nvPr>
            <p:ph idx="31"/>
          </p:nvPr>
        </p:nvSpPr>
        <p:spPr>
          <a:xfrm>
            <a:off x="457200" y="1188720"/>
            <a:ext cx="5029200" cy="2286000"/>
          </a:xfrm>
        </p:spPr>
        <p:txBody>
          <a:bodyPr wrap="square"/>
          <a:lstStyle/>
          <a:p/>
        </p:txBody>
      </p:sp>
      <p:sp>
        <p:nvSpPr>
          <p:cNvPr id="232" name="Segments Pie"/>
          <p:cNvSpPr>
            <a:spLocks noGrp="1"/>
          </p:cNvSpPr>
          <p:nvPr>
            <p:ph idx="32"/>
          </p:nvPr>
        </p:nvSpPr>
        <p:spPr>
          <a:xfrm>
            <a:off x="6400800" y="1188720"/>
            <a:ext cx="5303520" cy="2743200"/>
          </a:xfrm>
        </p:spPr>
        <p:txBody>
          <a:bodyPr wrap="square"/>
          <a:lstStyle/>
          <a:p/>
        </p:txBody>
      </p:sp>
      <p:sp>
        <p:nvSpPr>
          <p:cNvPr id="233" name="News"/>
          <p:cNvSpPr>
            <a:spLocks noGrp="1"/>
          </p:cNvSpPr>
          <p:nvPr>
            <p:ph idx="33"/>
          </p:nvPr>
        </p:nvSpPr>
        <p:spPr>
          <a:xfrm>
            <a:off x="457200" y="3840480"/>
            <a:ext cx="10972800" cy="2743200"/>
          </a:xfrm>
        </p:spPr>
        <p:txBody>
          <a:bodyPr wrap="square"/>
          <a:lstStyle/>
          <a:p/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inanc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20" name="Fin Title"/>
          <p:cNvSpPr>
            <a:spLocks noGrp="1"/>
          </p:cNvSpPr>
          <p:nvPr>
            <p:ph idx="20"/>
          </p:nvPr>
        </p:nvSpPr>
        <p:spPr>
          <a:xfrm>
            <a:off x="457200" y="274320"/>
            <a:ext cx="10972800" cy="640080"/>
          </a:xfrm>
        </p:spPr>
        <p:txBody>
          <a:bodyPr wrap="square"/>
          <a:lstStyle/>
          <a:p/>
        </p:txBody>
      </p:sp>
      <p:sp>
        <p:nvSpPr>
          <p:cNvPr id="221" name="Fin Table"/>
          <p:cNvSpPr>
            <a:spLocks noGrp="1"/>
          </p:cNvSpPr>
          <p:nvPr>
            <p:ph idx="21"/>
          </p:nvPr>
        </p:nvSpPr>
        <p:spPr>
          <a:xfrm>
            <a:off x="457200" y="1188720"/>
            <a:ext cx="5486400" cy="5029200"/>
          </a:xfrm>
        </p:spPr>
        <p:txBody>
          <a:bodyPr wrap="square"/>
          <a:lstStyle/>
          <a:p/>
        </p:txBody>
      </p:sp>
      <p:sp>
        <p:nvSpPr>
          <p:cNvPr id="222" name="EBITDA Chart"/>
          <p:cNvSpPr>
            <a:spLocks noGrp="1"/>
          </p:cNvSpPr>
          <p:nvPr>
            <p:ph idx="22"/>
          </p:nvPr>
        </p:nvSpPr>
        <p:spPr>
          <a:xfrm>
            <a:off x="6400800" y="1188720"/>
            <a:ext cx="5303520" cy="3200400"/>
          </a:xfrm>
        </p:spPr>
        <p:txBody>
          <a:bodyPr wrap="square"/>
          <a:lstStyle/>
          <a:p/>
        </p:txBody>
      </p:sp>
      <p:sp>
        <p:nvSpPr>
          <p:cNvPr id="223" name="Deal Score"/>
          <p:cNvSpPr>
            <a:spLocks noGrp="1"/>
          </p:cNvSpPr>
          <p:nvPr>
            <p:ph idx="23"/>
          </p:nvPr>
        </p:nvSpPr>
        <p:spPr>
          <a:xfrm>
            <a:off x="6400800" y="4572000"/>
            <a:ext cx="5303520" cy="1828800"/>
          </a:xfrm>
        </p:spPr>
        <p:txBody>
          <a:bodyPr wrap="square"/>
          <a:lstStyle/>
          <a:p/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xecuti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10" name="Company Name"/>
          <p:cNvSpPr>
            <a:spLocks noGrp="1"/>
          </p:cNvSpPr>
          <p:nvPr>
            <p:ph idx="10"/>
          </p:nvPr>
        </p:nvSpPr>
        <p:spPr>
          <a:xfrm>
            <a:off x="457200" y="274320"/>
            <a:ext cx="5486400" cy="640080"/>
          </a:xfrm>
        </p:spPr>
        <p:txBody>
          <a:bodyPr wrap="square"/>
          <a:lstStyle/>
          <a:p/>
        </p:txBody>
      </p:sp>
      <p:sp>
        <p:nvSpPr>
          <p:cNvPr id="211" name="Ticker Price"/>
          <p:cNvSpPr>
            <a:spLocks noGrp="1"/>
          </p:cNvSpPr>
          <p:nvPr>
            <p:ph idx="11"/>
          </p:nvPr>
        </p:nvSpPr>
        <p:spPr>
          <a:xfrm>
            <a:off x="457200" y="914400"/>
            <a:ext cx="5486400" cy="457200"/>
          </a:xfrm>
        </p:spPr>
        <p:txBody>
          <a:bodyPr wrap="square"/>
          <a:lstStyle/>
          <a:p/>
        </p:txBody>
      </p:sp>
      <p:sp>
        <p:nvSpPr>
          <p:cNvPr id="212" name="Summary Bullets"/>
          <p:cNvSpPr>
            <a:spLocks noGrp="1"/>
          </p:cNvSpPr>
          <p:nvPr>
            <p:ph idx="12"/>
          </p:nvPr>
        </p:nvSpPr>
        <p:spPr>
          <a:xfrm>
            <a:off x="457200" y="1554480"/>
            <a:ext cx="5029200" cy="4114800"/>
          </a:xfrm>
        </p:spPr>
        <p:txBody>
          <a:bodyPr wrap="square"/>
          <a:lstStyle/>
          <a:p/>
        </p:txBody>
      </p:sp>
      <p:sp>
        <p:nvSpPr>
          <p:cNvPr id="213" name="Price Chart"/>
          <p:cNvSpPr>
            <a:spLocks noGrp="1"/>
          </p:cNvSpPr>
          <p:nvPr>
            <p:ph idx="13"/>
          </p:nvPr>
        </p:nvSpPr>
        <p:spPr>
          <a:xfrm>
            <a:off x="6217920" y="274320"/>
            <a:ext cx="5486400" cy="3657600"/>
          </a:xfrm>
        </p:spPr>
        <p:txBody>
          <a:bodyPr wrap="square"/>
          <a:lstStyle/>
          <a:p/>
        </p:txBody>
      </p:sp>
      <p:sp>
        <p:nvSpPr>
          <p:cNvPr id="214" name="Key Metrics"/>
          <p:cNvSpPr>
            <a:spLocks noGrp="1"/>
          </p:cNvSpPr>
          <p:nvPr>
            <p:ph idx="14"/>
          </p:nvPr>
        </p:nvSpPr>
        <p:spPr>
          <a:xfrm>
            <a:off x="6217920" y="4114800"/>
            <a:ext cx="5486400" cy="2286000"/>
          </a:xfrm>
        </p:spPr>
        <p:txBody>
          <a:bodyPr wrap="square"/>
          <a:lstStyle/>
          <a:p/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